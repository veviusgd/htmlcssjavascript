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llips, Matthew" userId="0e4b271d-5728-4dba-a13c-a486d1bb8391" providerId="ADAL" clId="{82085370-BA2C-4728-8A10-71B834E8E856}"/>
    <pc:docChg chg="undo custSel modSld">
      <pc:chgData name="Phillips, Matthew" userId="0e4b271d-5728-4dba-a13c-a486d1bb8391" providerId="ADAL" clId="{82085370-BA2C-4728-8A10-71B834E8E856}" dt="2025-11-07T14:38:16.597" v="1735" actId="20577"/>
      <pc:docMkLst>
        <pc:docMk/>
      </pc:docMkLst>
      <pc:sldChg chg="modTransition">
        <pc:chgData name="Phillips, Matthew" userId="0e4b271d-5728-4dba-a13c-a486d1bb8391" providerId="ADAL" clId="{82085370-BA2C-4728-8A10-71B834E8E856}" dt="2025-11-07T13:32:53.198" v="23"/>
        <pc:sldMkLst>
          <pc:docMk/>
          <pc:sldMk cId="2713746138" sldId="256"/>
        </pc:sldMkLst>
      </pc:sldChg>
      <pc:sldChg chg="addSp modSp mod modTransition modAnim modNotesTx">
        <pc:chgData name="Phillips, Matthew" userId="0e4b271d-5728-4dba-a13c-a486d1bb8391" providerId="ADAL" clId="{82085370-BA2C-4728-8A10-71B834E8E856}" dt="2025-11-07T14:28:06.720" v="1526" actId="20577"/>
        <pc:sldMkLst>
          <pc:docMk/>
          <pc:sldMk cId="2849806966" sldId="257"/>
        </pc:sldMkLst>
        <pc:spChg chg="mod">
          <ac:chgData name="Phillips, Matthew" userId="0e4b271d-5728-4dba-a13c-a486d1bb8391" providerId="ADAL" clId="{82085370-BA2C-4728-8A10-71B834E8E856}" dt="2025-11-07T14:24:45" v="1283" actId="14100"/>
          <ac:spMkLst>
            <pc:docMk/>
            <pc:sldMk cId="2849806966" sldId="257"/>
            <ac:spMk id="2" creationId="{18463EA8-02A5-49DF-B078-D0C30DB7718A}"/>
          </ac:spMkLst>
        </pc:spChg>
        <pc:spChg chg="mod">
          <ac:chgData name="Phillips, Matthew" userId="0e4b271d-5728-4dba-a13c-a486d1bb8391" providerId="ADAL" clId="{82085370-BA2C-4728-8A10-71B834E8E856}" dt="2025-11-07T14:27:22.737" v="1514" actId="20577"/>
          <ac:spMkLst>
            <pc:docMk/>
            <pc:sldMk cId="2849806966" sldId="257"/>
            <ac:spMk id="3" creationId="{E165E6AB-A032-4947-996F-8B75BF732C1F}"/>
          </ac:spMkLst>
        </pc:spChg>
        <pc:picChg chg="add mod">
          <ac:chgData name="Phillips, Matthew" userId="0e4b271d-5728-4dba-a13c-a486d1bb8391" providerId="ADAL" clId="{82085370-BA2C-4728-8A10-71B834E8E856}" dt="2025-11-07T14:24:38.526" v="1281" actId="1076"/>
          <ac:picMkLst>
            <pc:docMk/>
            <pc:sldMk cId="2849806966" sldId="257"/>
            <ac:picMk id="7" creationId="{D9A6FEEB-E0A9-4CA5-BF8A-9662B2A5C726}"/>
          </ac:picMkLst>
        </pc:picChg>
        <pc:picChg chg="add mod">
          <ac:chgData name="Phillips, Matthew" userId="0e4b271d-5728-4dba-a13c-a486d1bb8391" providerId="ADAL" clId="{82085370-BA2C-4728-8A10-71B834E8E856}" dt="2025-11-07T14:17:44.336" v="1216" actId="1076"/>
          <ac:picMkLst>
            <pc:docMk/>
            <pc:sldMk cId="2849806966" sldId="257"/>
            <ac:picMk id="8" creationId="{3E44B1D1-B11D-4B03-873F-E7D4FC578718}"/>
          </ac:picMkLst>
        </pc:picChg>
      </pc:sldChg>
      <pc:sldChg chg="modSp mod modTransition modNotesTx">
        <pc:chgData name="Phillips, Matthew" userId="0e4b271d-5728-4dba-a13c-a486d1bb8391" providerId="ADAL" clId="{82085370-BA2C-4728-8A10-71B834E8E856}" dt="2025-11-07T14:26:50.477" v="1505" actId="20577"/>
        <pc:sldMkLst>
          <pc:docMk/>
          <pc:sldMk cId="787591882" sldId="258"/>
        </pc:sldMkLst>
        <pc:spChg chg="mod">
          <ac:chgData name="Phillips, Matthew" userId="0e4b271d-5728-4dba-a13c-a486d1bb8391" providerId="ADAL" clId="{82085370-BA2C-4728-8A10-71B834E8E856}" dt="2025-11-07T14:00:17.416" v="831" actId="20577"/>
          <ac:spMkLst>
            <pc:docMk/>
            <pc:sldMk cId="787591882" sldId="258"/>
            <ac:spMk id="3" creationId="{E165E6AB-A032-4947-996F-8B75BF732C1F}"/>
          </ac:spMkLst>
        </pc:spChg>
      </pc:sldChg>
      <pc:sldChg chg="addSp delSp modSp mod modTransition modAnim modNotesTx">
        <pc:chgData name="Phillips, Matthew" userId="0e4b271d-5728-4dba-a13c-a486d1bb8391" providerId="ADAL" clId="{82085370-BA2C-4728-8A10-71B834E8E856}" dt="2025-11-07T14:26:24.344" v="1426" actId="20577"/>
        <pc:sldMkLst>
          <pc:docMk/>
          <pc:sldMk cId="3050724878" sldId="259"/>
        </pc:sldMkLst>
        <pc:spChg chg="mod">
          <ac:chgData name="Phillips, Matthew" userId="0e4b271d-5728-4dba-a13c-a486d1bb8391" providerId="ADAL" clId="{82085370-BA2C-4728-8A10-71B834E8E856}" dt="2025-11-07T13:52:13.338" v="733" actId="1076"/>
          <ac:spMkLst>
            <pc:docMk/>
            <pc:sldMk cId="3050724878" sldId="259"/>
            <ac:spMk id="3" creationId="{E165E6AB-A032-4947-996F-8B75BF732C1F}"/>
          </ac:spMkLst>
        </pc:spChg>
        <pc:picChg chg="add mod">
          <ac:chgData name="Phillips, Matthew" userId="0e4b271d-5728-4dba-a13c-a486d1bb8391" providerId="ADAL" clId="{82085370-BA2C-4728-8A10-71B834E8E856}" dt="2025-11-07T13:49:21.254" v="720" actId="14100"/>
          <ac:picMkLst>
            <pc:docMk/>
            <pc:sldMk cId="3050724878" sldId="259"/>
            <ac:picMk id="5" creationId="{90FCE2E7-1C47-4AE0-8706-805233AA21AC}"/>
          </ac:picMkLst>
        </pc:picChg>
        <pc:picChg chg="add mod">
          <ac:chgData name="Phillips, Matthew" userId="0e4b271d-5728-4dba-a13c-a486d1bb8391" providerId="ADAL" clId="{82085370-BA2C-4728-8A10-71B834E8E856}" dt="2025-11-07T13:49:19.196" v="719" actId="14100"/>
          <ac:picMkLst>
            <pc:docMk/>
            <pc:sldMk cId="3050724878" sldId="259"/>
            <ac:picMk id="7" creationId="{0E5C30E5-C94E-4050-B778-50C97E913BD4}"/>
          </ac:picMkLst>
        </pc:picChg>
        <pc:picChg chg="add del mod">
          <ac:chgData name="Phillips, Matthew" userId="0e4b271d-5728-4dba-a13c-a486d1bb8391" providerId="ADAL" clId="{82085370-BA2C-4728-8A10-71B834E8E856}" dt="2025-11-07T13:51:34.752" v="722" actId="478"/>
          <ac:picMkLst>
            <pc:docMk/>
            <pc:sldMk cId="3050724878" sldId="259"/>
            <ac:picMk id="9" creationId="{E1850F44-34B9-4C73-9667-C580A7C96809}"/>
          </ac:picMkLst>
        </pc:picChg>
        <pc:picChg chg="add mod">
          <ac:chgData name="Phillips, Matthew" userId="0e4b271d-5728-4dba-a13c-a486d1bb8391" providerId="ADAL" clId="{82085370-BA2C-4728-8A10-71B834E8E856}" dt="2025-11-07T13:52:11.435" v="731" actId="207"/>
          <ac:picMkLst>
            <pc:docMk/>
            <pc:sldMk cId="3050724878" sldId="259"/>
            <ac:picMk id="11" creationId="{04ECF874-DBDF-400B-89D6-2426A66D6997}"/>
          </ac:picMkLst>
        </pc:picChg>
      </pc:sldChg>
      <pc:sldChg chg="addSp delSp modSp mod modTransition modAnim">
        <pc:chgData name="Phillips, Matthew" userId="0e4b271d-5728-4dba-a13c-a486d1bb8391" providerId="ADAL" clId="{82085370-BA2C-4728-8A10-71B834E8E856}" dt="2025-11-07T14:21:50.696" v="1253"/>
        <pc:sldMkLst>
          <pc:docMk/>
          <pc:sldMk cId="2389808963" sldId="260"/>
        </pc:sldMkLst>
        <pc:spChg chg="mod">
          <ac:chgData name="Phillips, Matthew" userId="0e4b271d-5728-4dba-a13c-a486d1bb8391" providerId="ADAL" clId="{82085370-BA2C-4728-8A10-71B834E8E856}" dt="2025-11-07T14:05:52.029" v="1036" actId="14100"/>
          <ac:spMkLst>
            <pc:docMk/>
            <pc:sldMk cId="2389808963" sldId="260"/>
            <ac:spMk id="3" creationId="{E165E6AB-A032-4947-996F-8B75BF732C1F}"/>
          </ac:spMkLst>
        </pc:spChg>
        <pc:picChg chg="add mod">
          <ac:chgData name="Phillips, Matthew" userId="0e4b271d-5728-4dba-a13c-a486d1bb8391" providerId="ADAL" clId="{82085370-BA2C-4728-8A10-71B834E8E856}" dt="2025-11-07T13:52:45.702" v="735" actId="1076"/>
          <ac:picMkLst>
            <pc:docMk/>
            <pc:sldMk cId="2389808963" sldId="260"/>
            <ac:picMk id="5" creationId="{1F0DF433-DA81-4514-812A-0E54E31B33B2}"/>
          </ac:picMkLst>
        </pc:picChg>
        <pc:picChg chg="add mod">
          <ac:chgData name="Phillips, Matthew" userId="0e4b271d-5728-4dba-a13c-a486d1bb8391" providerId="ADAL" clId="{82085370-BA2C-4728-8A10-71B834E8E856}" dt="2025-11-07T14:06:05.134" v="1040" actId="1076"/>
          <ac:picMkLst>
            <pc:docMk/>
            <pc:sldMk cId="2389808963" sldId="260"/>
            <ac:picMk id="7" creationId="{AF043728-E16E-471F-B984-D731288ACFBF}"/>
          </ac:picMkLst>
        </pc:picChg>
        <pc:picChg chg="add del mod">
          <ac:chgData name="Phillips, Matthew" userId="0e4b271d-5728-4dba-a13c-a486d1bb8391" providerId="ADAL" clId="{82085370-BA2C-4728-8A10-71B834E8E856}" dt="2025-11-07T14:05:59.040" v="1038" actId="478"/>
          <ac:picMkLst>
            <pc:docMk/>
            <pc:sldMk cId="2389808963" sldId="260"/>
            <ac:picMk id="9" creationId="{597F43A2-F2EE-4AB0-945A-D8DE53FBD465}"/>
          </ac:picMkLst>
        </pc:picChg>
        <pc:picChg chg="add mod">
          <ac:chgData name="Phillips, Matthew" userId="0e4b271d-5728-4dba-a13c-a486d1bb8391" providerId="ADAL" clId="{82085370-BA2C-4728-8A10-71B834E8E856}" dt="2025-11-07T14:06:31.423" v="1047" actId="207"/>
          <ac:picMkLst>
            <pc:docMk/>
            <pc:sldMk cId="2389808963" sldId="260"/>
            <ac:picMk id="11" creationId="{F1B29364-E313-42F4-8553-CCC227A47595}"/>
          </ac:picMkLst>
        </pc:picChg>
      </pc:sldChg>
      <pc:sldChg chg="modSp mod modTransition modNotesTx">
        <pc:chgData name="Phillips, Matthew" userId="0e4b271d-5728-4dba-a13c-a486d1bb8391" providerId="ADAL" clId="{82085370-BA2C-4728-8A10-71B834E8E856}" dt="2025-11-07T14:28:37.684" v="1612" actId="20577"/>
        <pc:sldMkLst>
          <pc:docMk/>
          <pc:sldMk cId="1502538490" sldId="261"/>
        </pc:sldMkLst>
        <pc:spChg chg="mod">
          <ac:chgData name="Phillips, Matthew" userId="0e4b271d-5728-4dba-a13c-a486d1bb8391" providerId="ADAL" clId="{82085370-BA2C-4728-8A10-71B834E8E856}" dt="2025-11-07T14:16:39.469" v="1207" actId="14100"/>
          <ac:spMkLst>
            <pc:docMk/>
            <pc:sldMk cId="1502538490" sldId="261"/>
            <ac:spMk id="3" creationId="{E165E6AB-A032-4947-996F-8B75BF732C1F}"/>
          </ac:spMkLst>
        </pc:spChg>
      </pc:sldChg>
      <pc:sldChg chg="addSp delSp modSp mod modTransition">
        <pc:chgData name="Phillips, Matthew" userId="0e4b271d-5728-4dba-a13c-a486d1bb8391" providerId="ADAL" clId="{82085370-BA2C-4728-8A10-71B834E8E856}" dt="2025-11-07T14:38:16.597" v="1735" actId="20577"/>
        <pc:sldMkLst>
          <pc:docMk/>
          <pc:sldMk cId="910568785" sldId="262"/>
        </pc:sldMkLst>
        <pc:spChg chg="mod">
          <ac:chgData name="Phillips, Matthew" userId="0e4b271d-5728-4dba-a13c-a486d1bb8391" providerId="ADAL" clId="{82085370-BA2C-4728-8A10-71B834E8E856}" dt="2025-11-07T14:38:16.597" v="1735" actId="20577"/>
          <ac:spMkLst>
            <pc:docMk/>
            <pc:sldMk cId="910568785" sldId="262"/>
            <ac:spMk id="3" creationId="{E165E6AB-A032-4947-996F-8B75BF732C1F}"/>
          </ac:spMkLst>
        </pc:spChg>
        <pc:spChg chg="add del mod">
          <ac:chgData name="Phillips, Matthew" userId="0e4b271d-5728-4dba-a13c-a486d1bb8391" providerId="ADAL" clId="{82085370-BA2C-4728-8A10-71B834E8E856}" dt="2025-11-07T14:35:14.376" v="1658"/>
          <ac:spMkLst>
            <pc:docMk/>
            <pc:sldMk cId="910568785" sldId="262"/>
            <ac:spMk id="4" creationId="{62D8916C-576F-44CE-884F-033BC00163E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F5687D-8AE9-492A-9703-2A484AF87D5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80CAB2-E578-402B-AE27-41C00018D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443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80CAB2-E578-402B-AE27-41C00018DE4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9635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is a lot of things I had to put down so this slides the most 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80CAB2-E578-402B-AE27-41C00018DE4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870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table used isn’t an actual table from somewhere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80CAB2-E578-402B-AE27-41C00018DE4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2386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&lt;</a:t>
            </a:r>
            <a:r>
              <a:rPr lang="en-US" dirty="0" err="1"/>
              <a:t>th</a:t>
            </a:r>
            <a:r>
              <a:rPr lang="en-US" dirty="0"/>
              <a:t>&gt; tip is because using &lt;</a:t>
            </a:r>
            <a:r>
              <a:rPr lang="en-US" dirty="0" err="1"/>
              <a:t>th</a:t>
            </a:r>
            <a:r>
              <a:rPr lang="en-US" dirty="0"/>
              <a:t>&gt; isn’t required, but helps accessibility a lot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80CAB2-E578-402B-AE27-41C00018DE4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783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14E80-3797-4C11-807A-1A089450F052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21D3-FC89-440D-8F4D-A137975ED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71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14E80-3797-4C11-807A-1A089450F052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312121D3-FC89-440D-8F4D-A137975ED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0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14E80-3797-4C11-807A-1A089450F052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21D3-FC89-440D-8F4D-A137975ED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203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14E80-3797-4C11-807A-1A089450F052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21D3-FC89-440D-8F4D-A137975ED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503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14E80-3797-4C11-807A-1A089450F052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21D3-FC89-440D-8F4D-A137975ED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119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14E80-3797-4C11-807A-1A089450F052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21D3-FC89-440D-8F4D-A137975ED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779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14E80-3797-4C11-807A-1A089450F052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21D3-FC89-440D-8F4D-A137975ED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629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14E80-3797-4C11-807A-1A089450F052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21D3-FC89-440D-8F4D-A137975ED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972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14E80-3797-4C11-807A-1A089450F052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21D3-FC89-440D-8F4D-A137975ED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058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14E80-3797-4C11-807A-1A089450F052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21D3-FC89-440D-8F4D-A137975ED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179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14E80-3797-4C11-807A-1A089450F052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21D3-FC89-440D-8F4D-A137975ED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7270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14E80-3797-4C11-807A-1A089450F052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21D3-FC89-440D-8F4D-A137975ED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541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14E80-3797-4C11-807A-1A089450F052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21D3-FC89-440D-8F4D-A137975ED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5386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14E80-3797-4C11-807A-1A089450F052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21D3-FC89-440D-8F4D-A137975ED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962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14E80-3797-4C11-807A-1A089450F052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21D3-FC89-440D-8F4D-A137975ED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0657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14E80-3797-4C11-807A-1A089450F052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21D3-FC89-440D-8F4D-A137975ED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9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14E80-3797-4C11-807A-1A089450F052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21D3-FC89-440D-8F4D-A137975ED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476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AD14E80-3797-4C11-807A-1A089450F052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12121D3-FC89-440D-8F4D-A137975ED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080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15321-46EA-4D07-A845-B0B2E7C97C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 Tables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AFAF50-1684-473F-8679-449D20F2C6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Matthew Phillips</a:t>
            </a:r>
          </a:p>
        </p:txBody>
      </p:sp>
    </p:spTree>
    <p:extLst>
      <p:ext uri="{BB962C8B-B14F-4D97-AF65-F5344CB8AC3E}">
        <p14:creationId xmlns:p14="http://schemas.microsoft.com/office/powerpoint/2010/main" val="2713746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63EA8-02A5-49DF-B078-D0C30DB77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and 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5E6AB-A032-4947-996F-8B75BF732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666999"/>
            <a:ext cx="7147626" cy="3404617"/>
          </a:xfrm>
        </p:spPr>
        <p:txBody>
          <a:bodyPr anchor="t">
            <a:normAutofit/>
          </a:bodyPr>
          <a:lstStyle/>
          <a:p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Their Job: To organize tabular data into a grid of rows and columns</a:t>
            </a:r>
          </a:p>
          <a:p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Usage: Spreadsheets, price lists, statistics, or schedules</a:t>
            </a:r>
          </a:p>
          <a:p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Right Tool: Use CSS (Flexbox &amp; Grid) for layout.</a:t>
            </a:r>
            <a:r>
              <a:rPr kumimoji="0" lang="en-US" altLang="en-US" sz="24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is crucial for accessibility and responsive design</a:t>
            </a:r>
          </a:p>
        </p:txBody>
      </p:sp>
      <p:pic>
        <p:nvPicPr>
          <p:cNvPr id="7" name="Graphic 6" descr="Daily calendar with solid fill">
            <a:extLst>
              <a:ext uri="{FF2B5EF4-FFF2-40B4-BE49-F238E27FC236}">
                <a16:creationId xmlns:a16="http://schemas.microsoft.com/office/drawing/2014/main" id="{D9A6FEEB-E0A9-4CA5-BF8A-9662B2A5C7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4975" y="858772"/>
            <a:ext cx="1260347" cy="1260347"/>
          </a:xfrm>
          <a:prstGeom prst="rect">
            <a:avLst/>
          </a:prstGeom>
        </p:spPr>
      </p:pic>
      <p:pic>
        <p:nvPicPr>
          <p:cNvPr id="8" name="Graphic 7" descr="Daily calendar with solid fill">
            <a:extLst>
              <a:ext uri="{FF2B5EF4-FFF2-40B4-BE49-F238E27FC236}">
                <a16:creationId xmlns:a16="http://schemas.microsoft.com/office/drawing/2014/main" id="{3E44B1D1-B11D-4B03-873F-E7D4FC5787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17087" y="858772"/>
            <a:ext cx="1260347" cy="1260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8069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3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63EA8-02A5-49DF-B078-D0C30DB77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Terms and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5E6AB-A032-4947-996F-8B75BF732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666999"/>
            <a:ext cx="10018713" cy="388924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rbel (Body)"/>
              </a:rPr>
              <a:t>Key Terms:</a:t>
            </a:r>
          </a:p>
          <a:p>
            <a:r>
              <a:rPr lang="en-US" dirty="0">
                <a:latin typeface="Corbel (Body)"/>
              </a:rPr>
              <a:t>&lt;table&gt;: This element is used to wrap everything in the table together</a:t>
            </a:r>
          </a:p>
          <a:p>
            <a:r>
              <a:rPr lang="en-US" dirty="0">
                <a:latin typeface="Corbel (Body)"/>
              </a:rPr>
              <a:t>&lt;tr&gt; table row: This tag creates horizontal rows in your table</a:t>
            </a:r>
          </a:p>
          <a:p>
            <a:r>
              <a:rPr lang="en-US" dirty="0">
                <a:latin typeface="Corbel (Body)"/>
              </a:rPr>
              <a:t>&lt;td&gt; table data: This is where you put the information of the table</a:t>
            </a:r>
          </a:p>
          <a:p>
            <a:r>
              <a:rPr lang="en-US" dirty="0">
                <a:latin typeface="Corbel (Body)"/>
              </a:rPr>
              <a:t>&lt;</a:t>
            </a:r>
            <a:r>
              <a:rPr lang="en-US" dirty="0" err="1">
                <a:latin typeface="Corbel (Body)"/>
              </a:rPr>
              <a:t>th</a:t>
            </a:r>
            <a:r>
              <a:rPr lang="en-US" dirty="0">
                <a:latin typeface="Corbel (Body)"/>
              </a:rPr>
              <a:t>&gt; table head: This is used for the titles of your columns and rows</a:t>
            </a:r>
          </a:p>
          <a:p>
            <a:r>
              <a:rPr lang="en-US" dirty="0">
                <a:latin typeface="Corbel (Body)"/>
              </a:rPr>
              <a:t>&lt;caption&gt;: This provides a description to tell what the tables representing</a:t>
            </a:r>
          </a:p>
          <a:p>
            <a:r>
              <a:rPr lang="en-US" dirty="0">
                <a:latin typeface="Corbel (Body)"/>
              </a:rPr>
              <a:t>&lt;</a:t>
            </a:r>
            <a:r>
              <a:rPr lang="en-US" dirty="0" err="1">
                <a:latin typeface="Corbel (Body)"/>
              </a:rPr>
              <a:t>colspan</a:t>
            </a:r>
            <a:r>
              <a:rPr lang="en-US" dirty="0">
                <a:latin typeface="Corbel (Body)"/>
              </a:rPr>
              <a:t>&gt;: </a:t>
            </a:r>
            <a:r>
              <a:rPr lang="en-US" dirty="0"/>
              <a:t>It tells that cell how many columns it should stretch horizontally</a:t>
            </a:r>
            <a:endParaRPr lang="en-US" dirty="0">
              <a:latin typeface="Corbel (Body)"/>
            </a:endParaRPr>
          </a:p>
        </p:txBody>
      </p:sp>
    </p:spTree>
    <p:extLst>
      <p:ext uri="{BB962C8B-B14F-4D97-AF65-F5344CB8AC3E}">
        <p14:creationId xmlns:p14="http://schemas.microsoft.com/office/powerpoint/2010/main" val="7875918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push dir="u"/>
      </p:transition>
    </mc:Choice>
    <mc:Fallback>
      <p:transition spd="slow">
        <p:push dir="u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63EA8-02A5-49DF-B078-D0C30DB77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5E6AB-A032-4947-996F-8B75BF732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666999"/>
            <a:ext cx="7254918" cy="3124201"/>
          </a:xfrm>
        </p:spPr>
        <p:txBody>
          <a:bodyPr anchor="t"/>
          <a:lstStyle/>
          <a:p>
            <a:pPr marL="0" indent="0">
              <a:buNone/>
            </a:pPr>
            <a:r>
              <a:rPr lang="en-US" dirty="0">
                <a:solidFill>
                  <a:srgbClr val="1F2328"/>
                </a:solidFill>
              </a:rPr>
              <a:t>This is a basic table structure to display a monthly expense report</a:t>
            </a:r>
          </a:p>
          <a:p>
            <a:pPr marL="0" indent="0">
              <a:buNone/>
            </a:pPr>
            <a:r>
              <a:rPr lang="en-US" dirty="0">
                <a:solidFill>
                  <a:srgbClr val="1F2328"/>
                </a:solidFill>
              </a:rPr>
              <a:t>It shows what categories they are by name, the item, the cost of that item, and the total at the bottom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FCE2E7-1C47-4AE0-8706-805233AA2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708" y="233057"/>
            <a:ext cx="2084517" cy="30245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5C30E5-C94E-4050-B778-50C97E913B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708" y="3500742"/>
            <a:ext cx="2084516" cy="3124201"/>
          </a:xfrm>
          <a:prstGeom prst="rect">
            <a:avLst/>
          </a:prstGeom>
        </p:spPr>
      </p:pic>
      <p:pic>
        <p:nvPicPr>
          <p:cNvPr id="11" name="Graphic 10" descr="Arrow: Clockwise curve with solid fill">
            <a:extLst>
              <a:ext uri="{FF2B5EF4-FFF2-40B4-BE49-F238E27FC236}">
                <a16:creationId xmlns:a16="http://schemas.microsoft.com/office/drawing/2014/main" id="{04ECF874-DBDF-400B-89D6-2426A66D69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563324">
            <a:off x="8560919" y="2386501"/>
            <a:ext cx="1366234" cy="1742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724878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15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63EA8-02A5-49DF-B078-D0C30DB77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Applied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5E6AB-A032-4947-996F-8B75BF732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666999"/>
            <a:ext cx="6507545" cy="3124201"/>
          </a:xfrm>
        </p:spPr>
        <p:txBody>
          <a:bodyPr anchor="t"/>
          <a:lstStyle/>
          <a:p>
            <a:pPr marL="0" indent="0">
              <a:buNone/>
            </a:pPr>
            <a:r>
              <a:rPr lang="en-US" dirty="0"/>
              <a:t>This is another basic example that uses </a:t>
            </a:r>
            <a:r>
              <a:rPr lang="en-US" dirty="0" err="1"/>
              <a:t>colspan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The difference is </a:t>
            </a:r>
            <a:r>
              <a:rPr lang="en-US" dirty="0" err="1"/>
              <a:t>colspan</a:t>
            </a:r>
            <a:r>
              <a:rPr lang="en-US" dirty="0"/>
              <a:t> is used because there is a two-row header, allowing for more customization and cleaner outputs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0DF433-DA81-4514-812A-0E54E31B3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913" y="4419602"/>
            <a:ext cx="6401693" cy="21053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043728-E16E-471F-B984-D731288AC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214" y="333079"/>
            <a:ext cx="1993392" cy="3752621"/>
          </a:xfrm>
          <a:prstGeom prst="rect">
            <a:avLst/>
          </a:prstGeom>
        </p:spPr>
      </p:pic>
      <p:pic>
        <p:nvPicPr>
          <p:cNvPr id="11" name="Graphic 10" descr="Back with solid fill">
            <a:extLst>
              <a:ext uri="{FF2B5EF4-FFF2-40B4-BE49-F238E27FC236}">
                <a16:creationId xmlns:a16="http://schemas.microsoft.com/office/drawing/2014/main" id="{F1B29364-E313-42F4-8553-CCC227A475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768204">
            <a:off x="8515181" y="2958041"/>
            <a:ext cx="1225385" cy="122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8089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50">
        <p:cover/>
      </p:transition>
    </mc:Choice>
    <mc:Fallback>
      <p:transition spd="slow">
        <p:cov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26" presetClass="entr" presetSubtype="0" fill="hold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37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184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32" tmFilter="0, 0; 0.125,0.2665; 0.25,0.4; 0.375,0.465; 0.5,0.5;  0.625,0.535; 0.75,0.6; 0.875,0.7335; 1,1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16" tmFilter="0, 0; 0.125,0.2665; 0.25,0.4; 0.375,0.465; 0.5,0.5;  0.625,0.535; 0.75,0.6; 0.875,0.7335; 1,1">
                                          <p:stCondLst>
                                            <p:cond delay="861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7" tmFilter="0, 0; 0.125,0.2665; 0.25,0.4; 0.375,0.465; 0.5,0.5;  0.625,0.535; 0.75,0.6; 0.875,0.7335; 1,1">
                                          <p:stCondLst>
                                            <p:cond delay="10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17">
                                          <p:stCondLst>
                                            <p:cond delay="42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08" decel="50000">
                                          <p:stCondLst>
                                            <p:cond delay="43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17">
                                          <p:stCondLst>
                                            <p:cond delay="853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08" decel="50000">
                                          <p:stCondLst>
                                            <p:cond delay="87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17">
                                          <p:stCondLst>
                                            <p:cond delay="1067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08" decel="50000">
                                          <p:stCondLst>
                                            <p:cond delay="108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17">
                                          <p:stCondLst>
                                            <p:cond delay="1175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08" decel="50000">
                                          <p:stCondLst>
                                            <p:cond delay="119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63EA8-02A5-49DF-B078-D0C30DB77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Mistakes and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5E6AB-A032-4947-996F-8B75BF732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685287"/>
            <a:ext cx="8107745" cy="3124201"/>
          </a:xfrm>
        </p:spPr>
        <p:txBody>
          <a:bodyPr anchor="t"/>
          <a:lstStyle/>
          <a:p>
            <a:pPr marL="0" indent="0">
              <a:buNone/>
            </a:pPr>
            <a:r>
              <a:rPr lang="en-US" b="0" i="0" dirty="0">
                <a:solidFill>
                  <a:srgbClr val="1F2328"/>
                </a:solidFill>
                <a:effectLst/>
              </a:rPr>
              <a:t>A common mistake is using tables for page layout</a:t>
            </a:r>
          </a:p>
          <a:p>
            <a:pPr marL="0" indent="0">
              <a:buNone/>
            </a:pPr>
            <a:r>
              <a:rPr lang="en-US" dirty="0">
                <a:solidFill>
                  <a:srgbClr val="1F2328"/>
                </a:solidFill>
              </a:rPr>
              <a:t>Instead, you should </a:t>
            </a:r>
            <a:r>
              <a:rPr lang="en-US" b="0" i="0" dirty="0">
                <a:solidFill>
                  <a:srgbClr val="1F2328"/>
                </a:solidFill>
                <a:effectLst/>
              </a:rPr>
              <a:t>use either CSS Grid</a:t>
            </a:r>
            <a:r>
              <a:rPr lang="en-US" dirty="0">
                <a:solidFill>
                  <a:srgbClr val="1F2328"/>
                </a:solidFill>
              </a:rPr>
              <a:t> or </a:t>
            </a:r>
            <a:r>
              <a:rPr lang="en-US" b="0" i="0" dirty="0">
                <a:solidFill>
                  <a:srgbClr val="1F2328"/>
                </a:solidFill>
                <a:effectLst/>
              </a:rPr>
              <a:t>Flexbox</a:t>
            </a:r>
          </a:p>
          <a:p>
            <a:pPr marL="0" indent="0">
              <a:buNone/>
            </a:pPr>
            <a:endParaRPr lang="en-US" dirty="0">
              <a:solidFill>
                <a:srgbClr val="1F2328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1F2328"/>
                </a:solidFill>
              </a:rPr>
              <a:t>Some tips are to always use &lt;</a:t>
            </a:r>
            <a:r>
              <a:rPr lang="en-US" dirty="0" err="1">
                <a:solidFill>
                  <a:srgbClr val="1F2328"/>
                </a:solidFill>
              </a:rPr>
              <a:t>th</a:t>
            </a:r>
            <a:r>
              <a:rPr lang="en-US" dirty="0">
                <a:solidFill>
                  <a:srgbClr val="1F2328"/>
                </a:solidFill>
              </a:rPr>
              <a:t>&gt; for table headers instead of &lt;td&gt;, prioritize accessibility, and style it with CSS, not with old 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538490"/>
      </p:ext>
    </p:extLst>
  </p:cSld>
  <p:clrMapOvr>
    <a:masterClrMapping/>
  </p:clrMapOvr>
  <p:transition spd="slow">
    <p:comb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63EA8-02A5-49DF-B078-D0C30DB77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5E6AB-A032-4947-996F-8B75BF732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b="0" i="0" dirty="0">
                <a:solidFill>
                  <a:srgbClr val="1F2328"/>
                </a:solidFill>
                <a:effectLst/>
              </a:rPr>
              <a:t>Tables provide essential structure for data, aligning with data organization</a:t>
            </a:r>
          </a:p>
          <a:p>
            <a:pPr marL="0" indent="0"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core elements are &lt;table&gt;, &lt;caption&gt;, &lt;tr, &lt;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&gt;, &lt;td&gt;, and &lt;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colspan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&gt;</a:t>
            </a:r>
          </a:p>
          <a:p>
            <a:pPr marL="0" indent="0"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All styling, from fonts to borders, must be handled with CSS</a:t>
            </a:r>
          </a:p>
          <a:p>
            <a:pPr marL="0" indent="0">
              <a:buNone/>
            </a:pPr>
            <a:r>
              <a:rPr lang="en-US" dirty="0"/>
              <a:t>You can use HTML tables for displaying tabular</a:t>
            </a:r>
            <a:r>
              <a:rPr lang="en-US" b="1" dirty="0"/>
              <a:t> </a:t>
            </a:r>
            <a:r>
              <a:rPr lang="en-US" dirty="0"/>
              <a:t>data (like spreadsheets, schedules, or statistics) because they structure that information into an accessible grid of rows and columns.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>
              <a:buNone/>
            </a:pPr>
            <a:endParaRPr lang="en-US" b="0" i="0" dirty="0">
              <a:solidFill>
                <a:srgbClr val="1F2328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105687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split orient="vert"/>
      </p:transition>
    </mc:Choice>
    <mc:Fallback>
      <p:transition spd="slow">
        <p:split orient="vert"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22B822E463C641A764C709DACA1446" ma:contentTypeVersion="5" ma:contentTypeDescription="Create a new document." ma:contentTypeScope="" ma:versionID="603f822b38b0025170fee2603475810f">
  <xsd:schema xmlns:xsd="http://www.w3.org/2001/XMLSchema" xmlns:xs="http://www.w3.org/2001/XMLSchema" xmlns:p="http://schemas.microsoft.com/office/2006/metadata/properties" xmlns:ns3="363b1c59-860c-4a49-bfb0-c87eb14b552e" targetNamespace="http://schemas.microsoft.com/office/2006/metadata/properties" ma:root="true" ma:fieldsID="da910ad3a1b64d64dce07dac14207104" ns3:_="">
    <xsd:import namespace="363b1c59-860c-4a49-bfb0-c87eb14b552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3b1c59-860c-4a49-bfb0-c87eb14b552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63b1c59-860c-4a49-bfb0-c87eb14b552e" xsi:nil="true"/>
  </documentManagement>
</p:properties>
</file>

<file path=customXml/itemProps1.xml><?xml version="1.0" encoding="utf-8"?>
<ds:datastoreItem xmlns:ds="http://schemas.openxmlformats.org/officeDocument/2006/customXml" ds:itemID="{119FAA21-E0C2-47B2-A401-AFD878165A1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3b1c59-860c-4a49-bfb0-c87eb14b55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E1312A7-AE8A-4C85-B865-D9CC8E74E2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2FA1E76-1430-47A3-8BEC-8985A7C343BB}">
  <ds:schemaRefs>
    <ds:schemaRef ds:uri="http://purl.org/dc/elements/1.1/"/>
    <ds:schemaRef ds:uri="363b1c59-860c-4a49-bfb0-c87eb14b552e"/>
    <ds:schemaRef ds:uri="http://schemas.microsoft.com/office/2006/documentManagement/types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83</TotalTime>
  <Words>400</Words>
  <Application>Microsoft Office PowerPoint</Application>
  <PresentationFormat>Widescreen</PresentationFormat>
  <Paragraphs>37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Corbel</vt:lpstr>
      <vt:lpstr>Corbel (Body)</vt:lpstr>
      <vt:lpstr>Parallax</vt:lpstr>
      <vt:lpstr>HTML Tables</vt:lpstr>
      <vt:lpstr>Definition and Purpose</vt:lpstr>
      <vt:lpstr>Key Terms and Elements</vt:lpstr>
      <vt:lpstr>Visual Example</vt:lpstr>
      <vt:lpstr>Applied Example</vt:lpstr>
      <vt:lpstr>Common Mistakes and Tips</vt:lpstr>
      <vt:lpstr>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Tables</dc:title>
  <dc:creator>Phillips, Matthew</dc:creator>
  <cp:lastModifiedBy>Phillips, Matthew</cp:lastModifiedBy>
  <cp:revision>7</cp:revision>
  <dcterms:created xsi:type="dcterms:W3CDTF">2025-11-07T13:14:26Z</dcterms:created>
  <dcterms:modified xsi:type="dcterms:W3CDTF">2025-11-07T14:38:26Z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0x010100FD22B822E463C641A764C709DACA1446</vt:lpwstr>
  </property>
</Properties>
</file>